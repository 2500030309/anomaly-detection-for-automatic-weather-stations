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bold r:id="rId9"/>
    </p:embeddedFont>
    <p:embeddedFont>
      <p:font typeface="Arimo Bold" panose="020B0604020202020204" charset="0"/>
      <p:regular r:id="rId10"/>
    </p:embeddedFont>
    <p:embeddedFont>
      <p:font typeface="Calibri (MS)" panose="020B0604020202020204" charset="0"/>
      <p:regular r:id="rId11"/>
    </p:embeddedFont>
    <p:embeddedFont>
      <p:font typeface="Canva Sans 2 Bold" panose="020B0604020202020204" charset="0"/>
      <p:regular r:id="rId12"/>
    </p:embeddedFont>
    <p:embeddedFont>
      <p:font typeface="Garamond Bold" panose="02020804030307010803" pitchFamily="18" charset="0"/>
      <p:bold r:id="rId13"/>
    </p:embeddedFont>
    <p:embeddedFont>
      <p:font typeface="Times New Roman Bold" panose="02020803070505020304" pitchFamily="18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7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1373" autoAdjust="0"/>
  </p:normalViewPr>
  <p:slideViewPr>
    <p:cSldViewPr>
      <p:cViewPr>
        <p:scale>
          <a:sx n="50" d="100"/>
          <a:sy n="50" d="100"/>
        </p:scale>
        <p:origin x="-370" y="1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jpe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8.png"/><Relationship Id="rId3" Type="http://schemas.openxmlformats.org/officeDocument/2006/relationships/image" Target="../media/image3.jpeg"/><Relationship Id="rId7" Type="http://schemas.openxmlformats.org/officeDocument/2006/relationships/image" Target="../media/image23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researchconnect.buffalo.edu/en/publications/anomaly-detection-a-survey" TargetMode="External"/><Relationship Id="rId3" Type="http://schemas.openxmlformats.org/officeDocument/2006/relationships/image" Target="../media/image3.jpeg"/><Relationship Id="rId7" Type="http://schemas.openxmlformats.org/officeDocument/2006/relationships/hyperlink" Target="https://papers.nips.cc/paper/2017/hash/8a20a8621978632d76c43dfd28b67767-Abstract.html" TargetMode="External"/><Relationship Id="rId12" Type="http://schemas.openxmlformats.org/officeDocument/2006/relationships/hyperlink" Target="https://public.wmo.int/activities/instruments-and-methods-of-observation-programme-imop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rxiv.org/abs/1607.00148" TargetMode="External"/><Relationship Id="rId11" Type="http://schemas.openxmlformats.org/officeDocument/2006/relationships/hyperlink" Target="https://cds.climate.copernicus.eu/datasets/reanalysis-era5-single-levels?tab=analysis_ready_data" TargetMode="External"/><Relationship Id="rId5" Type="http://schemas.openxmlformats.org/officeDocument/2006/relationships/hyperlink" Target="https://ieeexplore.ieee.org/document/4781136" TargetMode="External"/><Relationship Id="rId10" Type="http://schemas.openxmlformats.org/officeDocument/2006/relationships/hyperlink" Target="https://mausam.imd.gov.in/thiruvananthapuram/Datasupply.php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www.sciencedirect.com/science/article/abs/pii/S002216941100159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0282333" y="2573817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4000"/>
              </a:blip>
              <a:stretch>
                <a:fillRect r="-149475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59969" y="990067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6929" y="-790137"/>
            <a:ext cx="15544800" cy="3114675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3402" y="1830124"/>
            <a:ext cx="14241361" cy="7691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endParaRPr dirty="0"/>
          </a:p>
          <a:p>
            <a:pPr marL="1025844" lvl="1" indent="-512922" algn="just">
              <a:lnSpc>
                <a:spcPts val="7920"/>
              </a:lnSpc>
              <a:buFont typeface="Arial"/>
              <a:buChar char="•"/>
            </a:pPr>
            <a:r>
              <a:rPr lang="en-US" sz="33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26073</a:t>
            </a:r>
          </a:p>
          <a:p>
            <a:pPr marL="1111566" lvl="1" indent="-555783" algn="just">
              <a:lnSpc>
                <a:spcPts val="7920"/>
              </a:lnSpc>
              <a:buFont typeface="Arial"/>
              <a:buChar char="•"/>
            </a:pPr>
            <a:r>
              <a:rPr lang="en-US" sz="33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 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AI/ML-Based Intelligent Anomaly Detection for Automatic Weather Stations (AWS)</a:t>
            </a:r>
          </a:p>
          <a:p>
            <a:pPr marL="1111566" lvl="1" indent="-555783" algn="just">
              <a:lnSpc>
                <a:spcPts val="7920"/>
              </a:lnSpc>
              <a:buFont typeface="Arial"/>
              <a:buChar char="•"/>
            </a:pPr>
            <a:r>
              <a:rPr lang="en-US" sz="33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  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Disaster Management</a:t>
            </a:r>
          </a:p>
          <a:p>
            <a:pPr marL="1025844" lvl="1" indent="-512922" algn="just">
              <a:lnSpc>
                <a:spcPts val="7920"/>
              </a:lnSpc>
              <a:buFont typeface="Arial"/>
              <a:buChar char="•"/>
            </a:pPr>
            <a:r>
              <a:rPr lang="en-US" sz="33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marL="1025844" lvl="1" indent="-512922" algn="just">
              <a:lnSpc>
                <a:spcPts val="7920"/>
              </a:lnSpc>
              <a:buFont typeface="Arial"/>
              <a:buChar char="•"/>
            </a:pPr>
            <a:r>
              <a:rPr lang="en-US" sz="33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 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DIS05</a:t>
            </a:r>
          </a:p>
          <a:p>
            <a:pPr marL="1025844" lvl="1" indent="-512922" algn="just">
              <a:lnSpc>
                <a:spcPts val="7920"/>
              </a:lnSpc>
              <a:buFont typeface="Arial"/>
              <a:buChar char="•"/>
            </a:pPr>
            <a:r>
              <a:rPr lang="en-US" sz="33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</a:t>
            </a:r>
            <a:r>
              <a:rPr lang="en-US" sz="3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PralayDisha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6092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00100" y="0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20"/>
                </a:lnSpc>
              </a:pPr>
              <a:r>
                <a:rPr lang="en-US" sz="3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SkyGuard AI: Real-Time Anomaly Detection for AWS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457200" y="1828800"/>
            <a:ext cx="5943600" cy="3291840"/>
          </a:xfrm>
          <a:prstGeom prst="roundRect">
            <a:avLst>
              <a:gd name="adj" fmla="val 5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1874519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2400" b="1">
                <a:solidFill>
                  <a:srgbClr val="0070C0"/>
                </a:solidFill>
                <a:latin typeface="Calibri"/>
              </a:rPr>
              <a:t>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423160"/>
            <a:ext cx="5669280" cy="1908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lang="en-US" b="0" dirty="0">
                <a:solidFill>
                  <a:srgbClr val="262626"/>
                </a:solidFill>
                <a:latin typeface="Calibri"/>
              </a:rPr>
              <a:t>AWS readings can be corrupted by sensor faults, drift, power and communication failures. </a:t>
            </a:r>
          </a:p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lang="en-US" b="0" dirty="0">
                <a:solidFill>
                  <a:srgbClr val="262626"/>
                </a:solidFill>
                <a:latin typeface="Calibri"/>
              </a:rPr>
              <a:t>Simple threshold checks can flag genuine extreme weather as bad data. </a:t>
            </a:r>
          </a:p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lang="en-US" b="0" dirty="0">
                <a:solidFill>
                  <a:srgbClr val="262626"/>
                </a:solidFill>
                <a:latin typeface="Calibri"/>
              </a:rPr>
              <a:t>With many stations, manual checking is slow and unreliable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1828800"/>
            <a:ext cx="5486400" cy="3291840"/>
          </a:xfrm>
          <a:prstGeom prst="roundRect">
            <a:avLst>
              <a:gd name="adj" fmla="val 5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1874519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2400" b="1">
                <a:solidFill>
                  <a:srgbClr val="0070C0"/>
                </a:solidFill>
                <a:latin typeface="Calibri"/>
              </a:rPr>
              <a:t>Our Idea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423160"/>
            <a:ext cx="521208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b="1" dirty="0">
                <a:solidFill>
                  <a:srgbClr val="17375E"/>
                </a:solidFill>
                <a:latin typeface="Calibri"/>
              </a:rPr>
              <a:t>SkyGuard AI</a:t>
            </a:r>
            <a:r>
              <a:rPr b="0" dirty="0">
                <a:solidFill>
                  <a:srgbClr val="262626"/>
                </a:solidFill>
                <a:latin typeface="Calibri"/>
              </a:rPr>
              <a:t> is a real-time, explainable quality-control layer for Automatic Weather Stations. Using only </a:t>
            </a:r>
            <a:r>
              <a:rPr dirty="0">
                <a:solidFill>
                  <a:srgbClr val="262626"/>
                </a:solidFill>
                <a:latin typeface="Calibri"/>
              </a:rPr>
              <a:t>temperature, pressure and humidity</a:t>
            </a:r>
            <a:r>
              <a:rPr b="0" dirty="0">
                <a:solidFill>
                  <a:srgbClr val="262626"/>
                </a:solidFill>
                <a:latin typeface="Calibri"/>
              </a:rPr>
              <a:t>, it answers one question for every reading</a:t>
            </a:r>
            <a:r>
              <a:rPr lang="en-US" b="0" dirty="0">
                <a:solidFill>
                  <a:srgbClr val="262626"/>
                </a:solidFill>
                <a:latin typeface="Calibri"/>
              </a:rPr>
              <a:t>.</a:t>
            </a:r>
            <a:endParaRPr b="0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766560" y="4114800"/>
            <a:ext cx="5120640" cy="868680"/>
          </a:xfrm>
          <a:prstGeom prst="roundRect">
            <a:avLst>
              <a:gd name="adj" fmla="val 5000"/>
            </a:avLst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FFFFFF"/>
                </a:solidFill>
                <a:latin typeface="Calibri"/>
              </a:rPr>
              <a:t>Is this a faulty sensor or genuine weather?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252960" y="1828800"/>
            <a:ext cx="55778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435840" y="1874519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7375E"/>
                </a:solidFill>
                <a:latin typeface="Calibri"/>
              </a:rPr>
              <a:t>Every reading gets a verdict</a:t>
            </a:r>
          </a:p>
        </p:txBody>
      </p:sp>
      <p:sp>
        <p:nvSpPr>
          <p:cNvPr id="24" name="Oval 23"/>
          <p:cNvSpPr/>
          <p:nvPr/>
        </p:nvSpPr>
        <p:spPr>
          <a:xfrm>
            <a:off x="12412980" y="2537460"/>
            <a:ext cx="502920" cy="502920"/>
          </a:xfrm>
          <a:prstGeom prst="ellipse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Fa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38710" y="2663189"/>
            <a:ext cx="251460" cy="2514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030200" y="2571079"/>
            <a:ext cx="4754880" cy="45397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500" b="1" dirty="0">
                <a:solidFill>
                  <a:srgbClr val="E8702A"/>
                </a:solidFill>
                <a:latin typeface="Calibri"/>
              </a:rPr>
              <a:t>SENSOR FAULT</a:t>
            </a:r>
          </a:p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1450" b="0" dirty="0">
                <a:solidFill>
                  <a:srgbClr val="262626"/>
                </a:solidFill>
                <a:latin typeface="Calibri"/>
              </a:rPr>
              <a:t>Abnormal reading → fault type + alert</a:t>
            </a:r>
            <a:endParaRPr sz="1450" b="0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2412980" y="3177540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FaCloudSun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38710" y="3303270"/>
            <a:ext cx="251460" cy="2514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030200" y="3199618"/>
            <a:ext cx="4754880" cy="477054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500" b="1" dirty="0">
                <a:solidFill>
                  <a:srgbClr val="2E9E5B"/>
                </a:solidFill>
                <a:latin typeface="Calibri"/>
              </a:rPr>
              <a:t>WEATHER EVENT</a:t>
            </a:r>
            <a:endParaRPr lang="en-US" sz="1500" b="1" dirty="0">
              <a:solidFill>
                <a:srgbClr val="2E9E5B"/>
              </a:solidFill>
              <a:latin typeface="Calibri"/>
            </a:endParaRPr>
          </a:p>
          <a:p>
            <a:pPr>
              <a:buNone/>
            </a:pPr>
            <a:r>
              <a:rPr lang="en-IN" sz="1600" dirty="0"/>
              <a:t>Sensors + nearby stations agree → keep</a:t>
            </a:r>
          </a:p>
        </p:txBody>
      </p:sp>
      <p:sp>
        <p:nvSpPr>
          <p:cNvPr id="30" name="Oval 29"/>
          <p:cNvSpPr/>
          <p:nvPr/>
        </p:nvSpPr>
        <p:spPr>
          <a:xfrm>
            <a:off x="12412980" y="3817620"/>
            <a:ext cx="502920" cy="5029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FaCheckCir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38710" y="3943350"/>
            <a:ext cx="251460" cy="2514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3030200" y="3851239"/>
            <a:ext cx="4754880" cy="45397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500" b="1" dirty="0">
                <a:solidFill>
                  <a:srgbClr val="0070C0"/>
                </a:solidFill>
                <a:latin typeface="Calibri"/>
              </a:rPr>
              <a:t>NORMAL</a:t>
            </a:r>
          </a:p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450" b="0" dirty="0">
                <a:solidFill>
                  <a:srgbClr val="262626"/>
                </a:solidFill>
                <a:latin typeface="Calibri"/>
              </a:rPr>
              <a:t>Consistent </a:t>
            </a:r>
            <a:r>
              <a:rPr lang="en-US" sz="1450" dirty="0">
                <a:solidFill>
                  <a:srgbClr val="262626"/>
                </a:solidFill>
                <a:latin typeface="Calibri"/>
              </a:rPr>
              <a:t>across time and sensors</a:t>
            </a:r>
            <a:endParaRPr sz="1450" b="0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12412980" y="4457699"/>
            <a:ext cx="502920" cy="502920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FaQuestionCirc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38710" y="4583429"/>
            <a:ext cx="251460" cy="2514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3030200" y="4491319"/>
            <a:ext cx="4754880" cy="45397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500" b="1" dirty="0">
                <a:solidFill>
                  <a:srgbClr val="7F7F7F"/>
                </a:solidFill>
                <a:latin typeface="Calibri"/>
              </a:rPr>
              <a:t>UNCERTAIN</a:t>
            </a:r>
          </a:p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450" b="0" dirty="0">
                <a:solidFill>
                  <a:srgbClr val="262626"/>
                </a:solidFill>
                <a:latin typeface="Calibri"/>
              </a:rPr>
              <a:t>Low confidence</a:t>
            </a:r>
            <a:r>
              <a:rPr lang="en-US" sz="1450" dirty="0">
                <a:solidFill>
                  <a:srgbClr val="262626"/>
                </a:solidFill>
                <a:latin typeface="Calibri"/>
              </a:rPr>
              <a:t> </a:t>
            </a:r>
            <a:r>
              <a:rPr lang="en-US" sz="1450" dirty="0">
                <a:solidFill>
                  <a:srgbClr val="262626"/>
                </a:solidFill>
                <a:latin typeface="Calibri"/>
                <a:sym typeface="Wingdings" panose="05000000000000000000" pitchFamily="2" charset="2"/>
              </a:rPr>
              <a:t></a:t>
            </a:r>
            <a:r>
              <a:rPr sz="1450" b="0" dirty="0">
                <a:solidFill>
                  <a:srgbClr val="262626"/>
                </a:solidFill>
                <a:latin typeface="Calibri"/>
              </a:rPr>
              <a:t> human review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03520"/>
            <a:ext cx="5943600" cy="4023360"/>
          </a:xfrm>
          <a:prstGeom prst="roundRect">
            <a:avLst>
              <a:gd name="adj" fmla="val 5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5349240"/>
            <a:ext cx="457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2400" b="1">
                <a:solidFill>
                  <a:srgbClr val="0070C0"/>
                </a:solidFill>
                <a:latin typeface="Calibri"/>
              </a:rPr>
              <a:t>Proposed Solution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5897880"/>
            <a:ext cx="5669280" cy="20621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lang="en-US" b="0" dirty="0">
                <a:solidFill>
                  <a:srgbClr val="262626"/>
                </a:solidFill>
                <a:latin typeface="Calibri"/>
              </a:rPr>
              <a:t>Collect T, P, RH from AWS. </a:t>
            </a:r>
          </a:p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lang="en-US" b="0" dirty="0">
                <a:solidFill>
                  <a:srgbClr val="262626"/>
                </a:solidFill>
                <a:latin typeface="Calibri"/>
              </a:rPr>
              <a:t>Check physical, temporal and spatial patterns. </a:t>
            </a:r>
          </a:p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lang="en-US" b="0" dirty="0">
                <a:solidFill>
                  <a:srgbClr val="262626"/>
                </a:solidFill>
                <a:latin typeface="Calibri"/>
              </a:rPr>
              <a:t>Combine evidence to identify fault vs weather. </a:t>
            </a:r>
          </a:p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lang="en-US" b="0" dirty="0">
                <a:solidFill>
                  <a:srgbClr val="262626"/>
                </a:solidFill>
                <a:latin typeface="Calibri"/>
              </a:rPr>
              <a:t>Report verdict, fault type, confidence and alert.</a:t>
            </a:r>
          </a:p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b="0" dirty="0">
                <a:solidFill>
                  <a:srgbClr val="262626"/>
                </a:solidFill>
                <a:latin typeface="Calibri"/>
              </a:rPr>
              <a:t>Dashboard and alerts show station health, anomaly timeline and maintenance actions</a:t>
            </a:r>
            <a:r>
              <a:rPr sz="1700" b="0" dirty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2252960" y="5303519"/>
            <a:ext cx="5577840" cy="3942873"/>
          </a:xfrm>
          <a:prstGeom prst="roundRect">
            <a:avLst>
              <a:gd name="adj" fmla="val 5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2435840" y="5349240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2400" b="1">
                <a:solidFill>
                  <a:srgbClr val="0070C0"/>
                </a:solidFill>
                <a:latin typeface="Calibri"/>
              </a:rPr>
              <a:t>Innovation / Uniqueness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390120" y="5897880"/>
            <a:ext cx="5303520" cy="33547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700" b="1" dirty="0">
                <a:solidFill>
                  <a:srgbClr val="17375E"/>
                </a:solidFill>
                <a:latin typeface="Calibri"/>
              </a:rPr>
              <a:t>Fault vs. weather: </a:t>
            </a:r>
            <a:r>
              <a:rPr lang="en-US" sz="1700" b="0" dirty="0">
                <a:solidFill>
                  <a:srgbClr val="262626"/>
                </a:solidFill>
                <a:latin typeface="Calibri"/>
              </a:rPr>
              <a:t>uses multiple evidence sources before rejecting a reading</a:t>
            </a:r>
            <a:r>
              <a:rPr sz="1700" b="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700" b="1" dirty="0">
                <a:solidFill>
                  <a:srgbClr val="17375E"/>
                </a:solidFill>
                <a:latin typeface="Calibri"/>
              </a:rPr>
              <a:t>Root Cause diagnosis</a:t>
            </a:r>
            <a:r>
              <a:rPr sz="1700" b="1" dirty="0">
                <a:solidFill>
                  <a:srgbClr val="17375E"/>
                </a:solidFill>
                <a:latin typeface="Calibri"/>
              </a:rPr>
              <a:t>: </a:t>
            </a:r>
            <a:r>
              <a:rPr sz="1700" b="0" dirty="0">
                <a:solidFill>
                  <a:srgbClr val="262626"/>
                </a:solidFill>
                <a:latin typeface="Calibri"/>
              </a:rPr>
              <a:t>spike, stuck value, drift, noise, dropout, cross-sensor mismatch.</a:t>
            </a:r>
          </a:p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700" b="1" dirty="0">
                <a:solidFill>
                  <a:srgbClr val="17375E"/>
                </a:solidFill>
                <a:latin typeface="Calibri"/>
              </a:rPr>
              <a:t>Explainable: </a:t>
            </a:r>
            <a:r>
              <a:rPr sz="1700" b="0" dirty="0">
                <a:solidFill>
                  <a:srgbClr val="262626"/>
                </a:solidFill>
                <a:latin typeface="Calibri"/>
              </a:rPr>
              <a:t>confidence score and SHAP reasons for every </a:t>
            </a:r>
            <a:r>
              <a:rPr lang="en-US" sz="1700" dirty="0">
                <a:solidFill>
                  <a:srgbClr val="262626"/>
                </a:solidFill>
                <a:latin typeface="Calibri"/>
              </a:rPr>
              <a:t>alert</a:t>
            </a:r>
            <a:r>
              <a:rPr sz="1700" b="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700" b="1" dirty="0">
                <a:solidFill>
                  <a:srgbClr val="17375E"/>
                </a:solidFill>
                <a:latin typeface="Calibri"/>
              </a:rPr>
              <a:t>Predictive sensor health: </a:t>
            </a:r>
            <a:r>
              <a:rPr lang="en-US" sz="1700" b="0" dirty="0">
                <a:solidFill>
                  <a:srgbClr val="262626"/>
                </a:solidFill>
                <a:latin typeface="Calibri"/>
              </a:rPr>
              <a:t>detects slow drift before failure</a:t>
            </a:r>
          </a:p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700" b="1" dirty="0">
                <a:solidFill>
                  <a:srgbClr val="17375E"/>
                </a:solidFill>
                <a:latin typeface="Calibri"/>
              </a:rPr>
              <a:t>Only T, P, RH needed: </a:t>
            </a:r>
            <a:r>
              <a:rPr sz="1700" b="0" dirty="0">
                <a:solidFill>
                  <a:srgbClr val="262626"/>
                </a:solidFill>
                <a:latin typeface="Calibri"/>
              </a:rPr>
              <a:t>no extra sensors or hardware</a:t>
            </a:r>
            <a:endParaRPr lang="en-US" sz="1700" b="0" dirty="0">
              <a:solidFill>
                <a:srgbClr val="262626"/>
              </a:solidFill>
              <a:latin typeface="Calibri"/>
            </a:endParaRPr>
          </a:p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700" b="0" dirty="0">
                <a:solidFill>
                  <a:srgbClr val="0070C0"/>
                </a:solidFill>
                <a:latin typeface="Calibri"/>
              </a:rPr>
              <a:t>Unique: </a:t>
            </a:r>
            <a:r>
              <a:rPr lang="en-US" sz="1700" b="0" dirty="0">
                <a:solidFill>
                  <a:srgbClr val="262626"/>
                </a:solidFill>
                <a:latin typeface="Calibri"/>
              </a:rPr>
              <a:t>We determine whether the abnormality comes from the sensor or from the weather.</a:t>
            </a:r>
            <a:endParaRPr sz="1700" b="0" dirty="0">
              <a:solidFill>
                <a:srgbClr val="262626"/>
              </a:solidFill>
              <a:latin typeface="Calibri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C01CDB2-2F1A-A3AD-4A59-A4744D7BB1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5474791"/>
            <a:ext cx="5669280" cy="3771601"/>
          </a:xfrm>
          <a:prstGeom prst="rect">
            <a:avLst/>
          </a:prstGeom>
        </p:spPr>
      </p:pic>
      <p:sp>
        <p:nvSpPr>
          <p:cNvPr id="46" name="Freeform 13" descr="Your startup LOGO">
            <a:extLst>
              <a:ext uri="{FF2B5EF4-FFF2-40B4-BE49-F238E27FC236}">
                <a16:creationId xmlns:a16="http://schemas.microsoft.com/office/drawing/2014/main" id="{46390178-B188-D430-BC17-5B73BD4E359A}"/>
              </a:ext>
            </a:extLst>
          </p:cNvPr>
          <p:cNvSpPr/>
          <p:nvPr/>
        </p:nvSpPr>
        <p:spPr>
          <a:xfrm>
            <a:off x="385349" y="387118"/>
            <a:ext cx="2336308" cy="1060827"/>
          </a:xfrm>
          <a:custGeom>
            <a:avLst/>
            <a:gdLst/>
            <a:ahLst/>
            <a:cxnLst/>
            <a:rect l="l" t="t" r="r" b="b"/>
            <a:pathLst>
              <a:path w="3712718" h="1685801">
                <a:moveTo>
                  <a:pt x="0" y="842900"/>
                </a:moveTo>
                <a:cubicBezTo>
                  <a:pt x="0" y="377318"/>
                  <a:pt x="831088" y="0"/>
                  <a:pt x="1856359" y="0"/>
                </a:cubicBezTo>
                <a:cubicBezTo>
                  <a:pt x="2881630" y="0"/>
                  <a:pt x="3712718" y="377318"/>
                  <a:pt x="3712718" y="842900"/>
                </a:cubicBezTo>
                <a:cubicBezTo>
                  <a:pt x="3712718" y="1308483"/>
                  <a:pt x="2881630" y="1685801"/>
                  <a:pt x="1856359" y="1685801"/>
                </a:cubicBezTo>
                <a:cubicBezTo>
                  <a:pt x="831088" y="1685801"/>
                  <a:pt x="0" y="1308356"/>
                  <a:pt x="0" y="84290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8064A2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Box 14">
            <a:extLst>
              <a:ext uri="{FF2B5EF4-FFF2-40B4-BE49-F238E27FC236}">
                <a16:creationId xmlns:a16="http://schemas.microsoft.com/office/drawing/2014/main" id="{CCD31BAC-0785-8C9A-89D4-6AD5B624E152}"/>
              </a:ext>
            </a:extLst>
          </p:cNvPr>
          <p:cNvSpPr txBox="1"/>
          <p:nvPr/>
        </p:nvSpPr>
        <p:spPr>
          <a:xfrm>
            <a:off x="475612" y="323358"/>
            <a:ext cx="2336332" cy="109678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3479"/>
              </a:lnSpc>
              <a:spcBef>
                <a:spcPct val="0"/>
              </a:spcBef>
            </a:pPr>
            <a:r>
              <a:rPr lang="en-US" sz="2899" u="none" strike="noStrike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PralayDisha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38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pic>
        <p:nvPicPr>
          <p:cNvPr id="18" name="Picture 17" descr="Fa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1" y="2816352"/>
            <a:ext cx="310896" cy="310896"/>
          </a:xfrm>
          <a:prstGeom prst="rect">
            <a:avLst/>
          </a:prstGeom>
        </p:spPr>
      </p:pic>
      <p:pic>
        <p:nvPicPr>
          <p:cNvPr id="21" name="Picture 20" descr="Fa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1" y="3776472"/>
            <a:ext cx="310896" cy="310896"/>
          </a:xfrm>
          <a:prstGeom prst="rect">
            <a:avLst/>
          </a:prstGeom>
        </p:spPr>
      </p:pic>
      <p:pic>
        <p:nvPicPr>
          <p:cNvPr id="24" name="Picture 23" descr="Fa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1" y="4736592"/>
            <a:ext cx="310896" cy="310896"/>
          </a:xfrm>
          <a:prstGeom prst="rect">
            <a:avLst/>
          </a:prstGeom>
        </p:spPr>
      </p:pic>
      <p:pic>
        <p:nvPicPr>
          <p:cNvPr id="27" name="Picture 26" descr="FaProjectDiagra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111" y="5696712"/>
            <a:ext cx="310896" cy="310896"/>
          </a:xfrm>
          <a:prstGeom prst="rect">
            <a:avLst/>
          </a:prstGeom>
        </p:spPr>
      </p:pic>
      <p:pic>
        <p:nvPicPr>
          <p:cNvPr id="30" name="Picture 29" descr="FaServ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111" y="6656832"/>
            <a:ext cx="310896" cy="310896"/>
          </a:xfrm>
          <a:prstGeom prst="rect">
            <a:avLst/>
          </a:prstGeom>
        </p:spPr>
      </p:pic>
      <p:pic>
        <p:nvPicPr>
          <p:cNvPr id="33" name="Picture 32" descr="FaDeskto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6111" y="7616952"/>
            <a:ext cx="310896" cy="310896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5486400" y="1828800"/>
            <a:ext cx="1234440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D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69280" y="1874519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2200" b="1">
                <a:solidFill>
                  <a:srgbClr val="0070C0"/>
                </a:solidFill>
                <a:latin typeface="Calibri"/>
              </a:rPr>
              <a:t>SYSTEM ARCHITECTURE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0" y="2606040"/>
            <a:ext cx="1737360" cy="3383280"/>
          </a:xfrm>
          <a:prstGeom prst="roundRect">
            <a:avLst>
              <a:gd name="adj" fmla="val 5000"/>
            </a:avLst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Bef>
                <a:spcPts val="0"/>
              </a:spcBef>
              <a:spcAft>
                <a:spcPts val="800"/>
              </a:spcAft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AWS Network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400" b="0">
                <a:solidFill>
                  <a:srgbClr val="FFFFFF"/>
                </a:solidFill>
                <a:latin typeface="Calibri"/>
              </a:rPr>
              <a:t>Stations report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400" b="0">
                <a:solidFill>
                  <a:srgbClr val="FFFFFF"/>
                </a:solidFill>
                <a:latin typeface="Calibri"/>
              </a:rPr>
              <a:t>Temperature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400" b="0">
                <a:solidFill>
                  <a:srgbClr val="FFFFFF"/>
                </a:solidFill>
                <a:latin typeface="Calibri"/>
              </a:rPr>
              <a:t>Pressure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400" b="0">
                <a:solidFill>
                  <a:srgbClr val="FFFFFF"/>
                </a:solidFill>
                <a:latin typeface="Calibri"/>
              </a:rPr>
              <a:t>Humidity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7424927" y="4069080"/>
            <a:ext cx="256032" cy="36576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699248" y="2606040"/>
            <a:ext cx="1920240" cy="3383280"/>
          </a:xfrm>
          <a:prstGeom prst="roundRect">
            <a:avLst>
              <a:gd name="adj" fmla="val 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Bef>
                <a:spcPts val="0"/>
              </a:spcBef>
              <a:spcAft>
                <a:spcPts val="800"/>
              </a:spcAft>
              <a:buNone/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Ingestion and Cleaning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400" b="0" dirty="0">
                <a:solidFill>
                  <a:srgbClr val="FFFFFF"/>
                </a:solidFill>
                <a:latin typeface="Calibri"/>
              </a:rPr>
              <a:t>Validate and time-align</a:t>
            </a:r>
            <a:endParaRPr lang="en-US" sz="1400" b="0" dirty="0">
              <a:solidFill>
                <a:srgbClr val="FFFFFF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400" b="0" dirty="0">
                <a:solidFill>
                  <a:srgbClr val="FFFFFF"/>
                </a:solidFill>
                <a:latin typeface="Calibri"/>
              </a:rPr>
              <a:t>Fill gaps, drop duplicates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400" b="0" dirty="0">
                <a:solidFill>
                  <a:srgbClr val="FFFFFF"/>
                </a:solidFill>
                <a:latin typeface="Calibri"/>
              </a:rPr>
              <a:t>Derive dew point, rate of change, diurnal residual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9637776" y="4069080"/>
            <a:ext cx="256032" cy="36576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912096" y="2606040"/>
            <a:ext cx="3429000" cy="3383280"/>
          </a:xfrm>
          <a:prstGeom prst="roundRect">
            <a:avLst>
              <a:gd name="adj" fmla="val 5000"/>
            </a:avLst>
          </a:prstGeom>
          <a:solidFill>
            <a:srgbClr val="EAF3FB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912096" y="2633472"/>
            <a:ext cx="3429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7375E"/>
                </a:solidFill>
                <a:latin typeface="Calibri"/>
              </a:rPr>
              <a:t>Detection Engine (4 layers)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12680" y="3127248"/>
            <a:ext cx="3246120" cy="640080"/>
          </a:xfrm>
          <a:prstGeom prst="roundRect">
            <a:avLst>
              <a:gd name="adj" fmla="val 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4572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dirty="0">
                <a:solidFill>
                  <a:srgbClr val="FFFFFF"/>
                </a:solidFill>
                <a:latin typeface="Calibri"/>
              </a:rPr>
              <a:t>L1 Physical </a:t>
            </a:r>
            <a:r>
              <a:rPr lang="en-US" sz="1350" b="1" dirty="0">
                <a:solidFill>
                  <a:srgbClr val="FFFFFF"/>
                </a:solidFill>
                <a:latin typeface="Calibri"/>
              </a:rPr>
              <a:t>&amp; R</a:t>
            </a:r>
            <a:r>
              <a:rPr sz="1350" b="1" dirty="0">
                <a:solidFill>
                  <a:srgbClr val="FFFFFF"/>
                </a:solidFill>
                <a:latin typeface="Calibri"/>
              </a:rPr>
              <a:t>ule QC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/>
              </a:rPr>
              <a:t>R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ange, step</a:t>
            </a:r>
            <a:r>
              <a:rPr lang="en-US" sz="1200" b="0" dirty="0">
                <a:solidFill>
                  <a:srgbClr val="FFFFFF"/>
                </a:solidFill>
                <a:latin typeface="Calibri"/>
              </a:rPr>
              <a:t>-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change, flatline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12680" y="3831335"/>
            <a:ext cx="3246120" cy="640080"/>
          </a:xfrm>
          <a:prstGeom prst="roundRect">
            <a:avLst>
              <a:gd name="adj" fmla="val 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4572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FFFFFF"/>
                </a:solidFill>
                <a:latin typeface="Calibri"/>
              </a:rPr>
              <a:t>L2 Temporal ML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200" b="0">
                <a:solidFill>
                  <a:srgbClr val="FFFFFF"/>
                </a:solidFill>
                <a:latin typeface="Calibri"/>
              </a:rPr>
              <a:t>Isolation Forest + LSTM-AE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12680" y="4535424"/>
            <a:ext cx="3246120" cy="640080"/>
          </a:xfrm>
          <a:prstGeom prst="roundRect">
            <a:avLst>
              <a:gd name="adj" fmla="val 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4572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dirty="0">
                <a:solidFill>
                  <a:srgbClr val="FFFFFF"/>
                </a:solidFill>
                <a:latin typeface="Calibri"/>
              </a:rPr>
              <a:t>L3 Multivariate physics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/>
              </a:rPr>
              <a:t>D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ew point ≤ temp</a:t>
            </a:r>
            <a:r>
              <a:rPr lang="en-US" sz="1200" b="0" dirty="0">
                <a:solidFill>
                  <a:srgbClr val="FFFFFF"/>
                </a:solidFill>
                <a:latin typeface="Calibri"/>
              </a:rPr>
              <a:t>erature</a:t>
            </a:r>
            <a:br>
              <a:rPr lang="en-US" sz="1200" b="0" dirty="0">
                <a:solidFill>
                  <a:srgbClr val="FFFFFF"/>
                </a:solidFill>
                <a:latin typeface="Calibri"/>
              </a:rPr>
            </a:br>
            <a:r>
              <a:rPr lang="en-US" sz="1200" b="0" dirty="0">
                <a:solidFill>
                  <a:srgbClr val="FFFFFF"/>
                </a:solidFill>
                <a:latin typeface="Calibri"/>
              </a:rPr>
              <a:t>T-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P</a:t>
            </a:r>
            <a:r>
              <a:rPr lang="en-US" sz="1200" b="0" dirty="0">
                <a:solidFill>
                  <a:srgbClr val="FFFFFF"/>
                </a:solidFill>
                <a:latin typeface="Calibri"/>
              </a:rPr>
              <a:t>-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RH consistency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12680" y="5239512"/>
            <a:ext cx="3246120" cy="640080"/>
          </a:xfrm>
          <a:prstGeom prst="roundRect">
            <a:avLst>
              <a:gd name="adj" fmla="val 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4572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dirty="0">
                <a:solidFill>
                  <a:srgbClr val="FFFFFF"/>
                </a:solidFill>
                <a:latin typeface="Calibri"/>
              </a:rPr>
              <a:t>L4 Spatial </a:t>
            </a:r>
            <a:r>
              <a:rPr lang="en-US" sz="1350" b="1" dirty="0">
                <a:solidFill>
                  <a:srgbClr val="FFFFFF"/>
                </a:solidFill>
                <a:latin typeface="Calibri"/>
              </a:rPr>
              <a:t>B</a:t>
            </a:r>
            <a:r>
              <a:rPr sz="1350" b="1" dirty="0">
                <a:solidFill>
                  <a:srgbClr val="FFFFFF"/>
                </a:solidFill>
                <a:latin typeface="Calibri"/>
              </a:rPr>
              <a:t>uddy </a:t>
            </a:r>
            <a:r>
              <a:rPr lang="en-US" sz="1350" b="1" dirty="0">
                <a:solidFill>
                  <a:srgbClr val="FFFFFF"/>
                </a:solidFill>
                <a:latin typeface="Calibri"/>
              </a:rPr>
              <a:t>Ch</a:t>
            </a:r>
            <a:r>
              <a:rPr sz="1350" b="1" dirty="0">
                <a:solidFill>
                  <a:srgbClr val="FFFFFF"/>
                </a:solidFill>
                <a:latin typeface="Calibri"/>
              </a:rPr>
              <a:t>eck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/>
              </a:rPr>
              <a:t>C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ompare with nearby </a:t>
            </a:r>
            <a:r>
              <a:rPr lang="en-US" sz="1200" b="0" dirty="0">
                <a:solidFill>
                  <a:srgbClr val="FFFFFF"/>
                </a:solidFill>
                <a:latin typeface="Calibri"/>
              </a:rPr>
              <a:t>AWS 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stations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3359384" y="4069080"/>
            <a:ext cx="256032" cy="36576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13633704" y="2606040"/>
            <a:ext cx="2011680" cy="3383280"/>
          </a:xfrm>
          <a:prstGeom prst="roundRect">
            <a:avLst>
              <a:gd name="adj" fmla="val 5000"/>
            </a:avLst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Bef>
                <a:spcPts val="0"/>
              </a:spcBef>
              <a:spcAft>
                <a:spcPts val="800"/>
              </a:spcAft>
              <a:buNone/>
            </a:pPr>
            <a:r>
              <a:rPr sz="1600" b="1" dirty="0">
                <a:solidFill>
                  <a:srgbClr val="FFFFFF"/>
                </a:solidFill>
                <a:latin typeface="Calibri"/>
              </a:rPr>
              <a:t>Fusion and Diagnosis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IN" sz="1400" b="0" dirty="0">
                <a:solidFill>
                  <a:srgbClr val="FFFFFF"/>
                </a:solidFill>
                <a:latin typeface="Calibri"/>
              </a:rPr>
              <a:t>Evidence Fusion</a:t>
            </a:r>
            <a:br>
              <a:rPr lang="en-IN" sz="1400" b="0" dirty="0">
                <a:solidFill>
                  <a:srgbClr val="FFFFFF"/>
                </a:solidFill>
                <a:latin typeface="Calibri"/>
              </a:rPr>
            </a:br>
            <a:r>
              <a:rPr lang="en-IN" sz="1400" b="0" dirty="0">
                <a:solidFill>
                  <a:srgbClr val="FFFFFF"/>
                </a:solidFill>
                <a:latin typeface="Calibri"/>
              </a:rPr>
              <a:t>XG Boost classifier</a:t>
            </a:r>
            <a:br>
              <a:rPr lang="en-IN" sz="1400" b="0" dirty="0">
                <a:solidFill>
                  <a:srgbClr val="FFFFFF"/>
                </a:solidFill>
                <a:latin typeface="Calibri"/>
              </a:rPr>
            </a:br>
            <a:r>
              <a:rPr lang="en-IN" sz="1400" b="0" dirty="0">
                <a:solidFill>
                  <a:srgbClr val="FFFFFF"/>
                </a:solidFill>
                <a:latin typeface="Calibri"/>
              </a:rPr>
              <a:t>→ Verdict + Fault Type</a:t>
            </a:r>
            <a:br>
              <a:rPr lang="en-IN" sz="1400" b="0" dirty="0">
                <a:solidFill>
                  <a:srgbClr val="FFFFFF"/>
                </a:solidFill>
                <a:latin typeface="Calibri"/>
              </a:rPr>
            </a:br>
            <a:r>
              <a:rPr lang="en-IN" sz="1400" b="0" dirty="0">
                <a:solidFill>
                  <a:srgbClr val="FFFFFF"/>
                </a:solidFill>
                <a:latin typeface="Calibri"/>
              </a:rPr>
              <a:t>→ Confidence + Explanation</a:t>
            </a:r>
            <a:endParaRPr sz="14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2" name="Right Arrow 51"/>
          <p:cNvSpPr/>
          <p:nvPr/>
        </p:nvSpPr>
        <p:spPr>
          <a:xfrm>
            <a:off x="15663672" y="4069080"/>
            <a:ext cx="256032" cy="36576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15937992" y="2606040"/>
            <a:ext cx="1737360" cy="3383280"/>
          </a:xfrm>
          <a:prstGeom prst="roundRect">
            <a:avLst>
              <a:gd name="adj" fmla="val 5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spcBef>
                <a:spcPts val="0"/>
              </a:spcBef>
              <a:spcAft>
                <a:spcPts val="800"/>
              </a:spcAft>
              <a:buNone/>
            </a:pPr>
            <a:r>
              <a:rPr b="1" dirty="0">
                <a:solidFill>
                  <a:srgbClr val="FFFFFF"/>
                </a:solidFill>
                <a:latin typeface="Calibri"/>
              </a:rPr>
              <a:t>Action Layer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500" b="0" dirty="0">
                <a:solidFill>
                  <a:srgbClr val="FFFFFF"/>
                </a:solidFill>
                <a:latin typeface="Calibri"/>
              </a:rPr>
              <a:t>Live dashboard</a:t>
            </a:r>
            <a:br>
              <a:rPr lang="en-US" sz="1500" b="0" dirty="0">
                <a:solidFill>
                  <a:srgbClr val="FFFFFF"/>
                </a:solidFill>
                <a:latin typeface="Calibri"/>
              </a:rPr>
            </a:br>
            <a:r>
              <a:rPr sz="1500" b="0" dirty="0">
                <a:solidFill>
                  <a:srgbClr val="FFFFFF"/>
                </a:solidFill>
                <a:latin typeface="Calibri"/>
              </a:rPr>
              <a:t>Alerts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500" b="0" dirty="0">
                <a:solidFill>
                  <a:srgbClr val="FFFFFF"/>
                </a:solidFill>
                <a:latin typeface="Calibri"/>
              </a:rPr>
              <a:t>Maintenance tickets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500" b="0" dirty="0">
                <a:solidFill>
                  <a:srgbClr val="FFFFFF"/>
                </a:solidFill>
                <a:latin typeface="Calibri"/>
              </a:rPr>
              <a:t>API to IMD QC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0" y="6446520"/>
            <a:ext cx="12344400" cy="2880360"/>
          </a:xfrm>
          <a:prstGeom prst="roundRect">
            <a:avLst>
              <a:gd name="adj" fmla="val 5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669280" y="6492240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2200" b="1">
                <a:solidFill>
                  <a:srgbClr val="0070C0"/>
                </a:solidFill>
                <a:latin typeface="Calibri"/>
              </a:rPr>
              <a:t>IMPLEMENTATION METHODOLOGY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94BEBD3B-1F3C-9A69-FEA7-07199621B5D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806" y="1826665"/>
            <a:ext cx="4794770" cy="748255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7160001-144B-D7E4-72EC-7C75EF1A43C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69280" y="7009660"/>
            <a:ext cx="12006072" cy="2080440"/>
          </a:xfrm>
          <a:prstGeom prst="rect">
            <a:avLst/>
          </a:prstGeom>
        </p:spPr>
      </p:pic>
      <p:sp>
        <p:nvSpPr>
          <p:cNvPr id="36" name="Freeform 13" descr="Your startup LOGO">
            <a:extLst>
              <a:ext uri="{FF2B5EF4-FFF2-40B4-BE49-F238E27FC236}">
                <a16:creationId xmlns:a16="http://schemas.microsoft.com/office/drawing/2014/main" id="{616DB1B7-4B5F-3CA1-7E53-7018AF633A67}"/>
              </a:ext>
            </a:extLst>
          </p:cNvPr>
          <p:cNvSpPr/>
          <p:nvPr/>
        </p:nvSpPr>
        <p:spPr>
          <a:xfrm>
            <a:off x="385349" y="387118"/>
            <a:ext cx="2336308" cy="1060827"/>
          </a:xfrm>
          <a:custGeom>
            <a:avLst/>
            <a:gdLst/>
            <a:ahLst/>
            <a:cxnLst/>
            <a:rect l="l" t="t" r="r" b="b"/>
            <a:pathLst>
              <a:path w="3712718" h="1685801">
                <a:moveTo>
                  <a:pt x="0" y="842900"/>
                </a:moveTo>
                <a:cubicBezTo>
                  <a:pt x="0" y="377318"/>
                  <a:pt x="831088" y="0"/>
                  <a:pt x="1856359" y="0"/>
                </a:cubicBezTo>
                <a:cubicBezTo>
                  <a:pt x="2881630" y="0"/>
                  <a:pt x="3712718" y="377318"/>
                  <a:pt x="3712718" y="842900"/>
                </a:cubicBezTo>
                <a:cubicBezTo>
                  <a:pt x="3712718" y="1308483"/>
                  <a:pt x="2881630" y="1685801"/>
                  <a:pt x="1856359" y="1685801"/>
                </a:cubicBezTo>
                <a:cubicBezTo>
                  <a:pt x="831088" y="1685801"/>
                  <a:pt x="0" y="1308356"/>
                  <a:pt x="0" y="84290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8064A2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Box 14">
            <a:extLst>
              <a:ext uri="{FF2B5EF4-FFF2-40B4-BE49-F238E27FC236}">
                <a16:creationId xmlns:a16="http://schemas.microsoft.com/office/drawing/2014/main" id="{7B6C2B4A-3451-0CD0-83BD-5AE45C30E343}"/>
              </a:ext>
            </a:extLst>
          </p:cNvPr>
          <p:cNvSpPr txBox="1"/>
          <p:nvPr/>
        </p:nvSpPr>
        <p:spPr>
          <a:xfrm>
            <a:off x="475612" y="323358"/>
            <a:ext cx="2336332" cy="109678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3479"/>
              </a:lnSpc>
              <a:spcBef>
                <a:spcPct val="0"/>
              </a:spcBef>
            </a:pPr>
            <a:r>
              <a:rPr lang="en-US" sz="2899" u="none" strike="noStrike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PralayDisha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71454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38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5689600" cy="720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457200" y="1828800"/>
            <a:ext cx="8549640" cy="3657600"/>
          </a:xfrm>
          <a:prstGeom prst="roundRect">
            <a:avLst>
              <a:gd name="adj" fmla="val 5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0080" y="2011679"/>
            <a:ext cx="640080" cy="64008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Fa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171700"/>
            <a:ext cx="320040" cy="320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17320" y="2011680"/>
            <a:ext cx="7452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2200" b="1">
                <a:solidFill>
                  <a:srgbClr val="0070C0"/>
                </a:solidFill>
                <a:latin typeface="Calibri"/>
              </a:rPr>
              <a:t>Technical Feasibility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697480"/>
            <a:ext cx="8229600" cy="22621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800" b="1" dirty="0">
                <a:solidFill>
                  <a:srgbClr val="17375E"/>
                </a:solidFill>
                <a:latin typeface="Calibri"/>
              </a:rPr>
              <a:t>Mature open-source ML: </a:t>
            </a:r>
            <a:r>
              <a:rPr lang="en-US" sz="1800" dirty="0">
                <a:latin typeface="Calibri"/>
              </a:rPr>
              <a:t>Isolation Forest, LSTM autoencoder and XGBoost are well documented tools.</a:t>
            </a:r>
            <a:endParaRPr sz="1800" b="0" dirty="0">
              <a:solidFill>
                <a:srgbClr val="262626"/>
              </a:solidFill>
              <a:latin typeface="Calibri"/>
            </a:endParaRPr>
          </a:p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800" b="1" dirty="0">
                <a:solidFill>
                  <a:srgbClr val="17375E"/>
                </a:solidFill>
                <a:latin typeface="Calibri"/>
              </a:rPr>
              <a:t>Only 3 inputs: </a:t>
            </a:r>
            <a:r>
              <a:rPr sz="1800" b="0" dirty="0">
                <a:solidFill>
                  <a:srgbClr val="262626"/>
                </a:solidFill>
                <a:latin typeface="Calibri"/>
              </a:rPr>
              <a:t>Temperature, pressure and humidity are already reported by every AWS</a:t>
            </a:r>
            <a:r>
              <a:rPr lang="en-US" sz="1800" b="0" dirty="0">
                <a:solidFill>
                  <a:srgbClr val="262626"/>
                </a:solidFill>
                <a:latin typeface="Calibri"/>
              </a:rPr>
              <a:t> so</a:t>
            </a:r>
            <a:r>
              <a:rPr sz="1800" b="0" dirty="0">
                <a:solidFill>
                  <a:srgbClr val="262626"/>
                </a:solidFill>
                <a:latin typeface="Calibri"/>
              </a:rPr>
              <a:t> no new hardware.</a:t>
            </a:r>
          </a:p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800" b="1" dirty="0">
                <a:solidFill>
                  <a:srgbClr val="17375E"/>
                </a:solidFill>
                <a:latin typeface="Calibri"/>
              </a:rPr>
              <a:t>Real-time capable: </a:t>
            </a:r>
            <a:r>
              <a:rPr lang="en-US" sz="1800" dirty="0">
                <a:latin typeface="Calibri"/>
              </a:rPr>
              <a:t>Lightweight per-station inference can run on standard servers</a:t>
            </a:r>
            <a:r>
              <a:rPr sz="1800" b="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800" b="1" dirty="0">
                <a:solidFill>
                  <a:srgbClr val="17375E"/>
                </a:solidFill>
                <a:latin typeface="Calibri"/>
              </a:rPr>
              <a:t>Physics reduces label dependency: </a:t>
            </a:r>
            <a:r>
              <a:rPr lang="en-US" sz="1800" dirty="0">
                <a:latin typeface="Calibri"/>
              </a:rPr>
              <a:t>Dew-point and T/P/RH consistency help when fault labels are scarce.</a:t>
            </a:r>
            <a:endParaRPr sz="1800" dirty="0"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281160" y="1828800"/>
            <a:ext cx="8549640" cy="3657600"/>
          </a:xfrm>
          <a:prstGeom prst="roundRect">
            <a:avLst>
              <a:gd name="adj" fmla="val 5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464040" y="2011679"/>
            <a:ext cx="640080" cy="64008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Fa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4060" y="2171700"/>
            <a:ext cx="320040" cy="3200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241280" y="2011680"/>
            <a:ext cx="7452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2200" b="1">
                <a:solidFill>
                  <a:srgbClr val="2E9E5B"/>
                </a:solidFill>
                <a:latin typeface="Calibri"/>
              </a:rPr>
              <a:t>Operational Viability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697480"/>
            <a:ext cx="8229600" cy="1708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800" b="1" dirty="0">
                <a:solidFill>
                  <a:srgbClr val="17375E"/>
                </a:solidFill>
                <a:latin typeface="Calibri"/>
              </a:rPr>
              <a:t>Drop-in QC layer: </a:t>
            </a:r>
            <a:r>
              <a:rPr lang="en-US" dirty="0">
                <a:solidFill>
                  <a:srgbClr val="262626"/>
                </a:solidFill>
                <a:latin typeface="Calibri"/>
              </a:rPr>
              <a:t>S</a:t>
            </a:r>
            <a:r>
              <a:rPr sz="1800" b="0" dirty="0">
                <a:solidFill>
                  <a:srgbClr val="262626"/>
                </a:solidFill>
                <a:latin typeface="Calibri"/>
              </a:rPr>
              <a:t>its between the AWS </a:t>
            </a:r>
            <a:r>
              <a:rPr lang="en-US" dirty="0">
                <a:solidFill>
                  <a:srgbClr val="262626"/>
                </a:solidFill>
                <a:latin typeface="Calibri"/>
              </a:rPr>
              <a:t>data</a:t>
            </a:r>
            <a:r>
              <a:rPr sz="1800" b="0" dirty="0">
                <a:solidFill>
                  <a:srgbClr val="262626"/>
                </a:solidFill>
                <a:latin typeface="Calibri"/>
              </a:rPr>
              <a:t> and downstream products</a:t>
            </a:r>
            <a:r>
              <a:rPr lang="en-US" sz="1800" b="0" dirty="0">
                <a:solidFill>
                  <a:srgbClr val="262626"/>
                </a:solidFill>
                <a:latin typeface="Calibri"/>
              </a:rPr>
              <a:t> with minimal workflow changes.</a:t>
            </a:r>
            <a:endParaRPr sz="1800" b="0" dirty="0">
              <a:solidFill>
                <a:srgbClr val="262626"/>
              </a:solidFill>
              <a:latin typeface="Calibri"/>
            </a:endParaRPr>
          </a:p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800" b="1" dirty="0">
                <a:solidFill>
                  <a:srgbClr val="17375E"/>
                </a:solidFill>
                <a:latin typeface="Calibri"/>
              </a:rPr>
              <a:t>Transparent alerts: </a:t>
            </a:r>
            <a:r>
              <a:rPr sz="1800" b="0" dirty="0">
                <a:solidFill>
                  <a:srgbClr val="262626"/>
                </a:solidFill>
                <a:latin typeface="Calibri"/>
              </a:rPr>
              <a:t>fault type, confidence and evidence for every flag.</a:t>
            </a:r>
          </a:p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800" b="1" dirty="0">
                <a:solidFill>
                  <a:srgbClr val="17375E"/>
                </a:solidFill>
                <a:latin typeface="Calibri"/>
              </a:rPr>
              <a:t>Human in the loop: </a:t>
            </a:r>
            <a:r>
              <a:rPr lang="en-US" sz="1800" dirty="0">
                <a:latin typeface="Calibri"/>
              </a:rPr>
              <a:t>Uncertain cases go to experts for review</a:t>
            </a:r>
            <a:r>
              <a:rPr sz="1800" b="0" dirty="0">
                <a:solidFill>
                  <a:srgbClr val="262626"/>
                </a:solidFill>
                <a:latin typeface="Calibri"/>
              </a:rPr>
              <a:t>.</a:t>
            </a:r>
          </a:p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lang="en-IN" b="1" dirty="0">
                <a:solidFill>
                  <a:srgbClr val="17375E"/>
                </a:solidFill>
              </a:rPr>
              <a:t>Targeted maintenance:</a:t>
            </a:r>
            <a:r>
              <a:rPr lang="en-IN" dirty="0">
                <a:solidFill>
                  <a:srgbClr val="17375E"/>
                </a:solidFill>
              </a:rPr>
              <a:t> </a:t>
            </a:r>
            <a:r>
              <a:rPr lang="en-IN" dirty="0"/>
              <a:t>Sensor-health trends help prioritize station visits.</a:t>
            </a:r>
            <a:endParaRPr sz="1800" b="0" dirty="0">
              <a:latin typeface="Calibri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57200" y="5669280"/>
            <a:ext cx="8549640" cy="3657600"/>
          </a:xfrm>
          <a:prstGeom prst="roundRect">
            <a:avLst>
              <a:gd name="adj" fmla="val 5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0080" y="5852160"/>
            <a:ext cx="640080" cy="640080"/>
          </a:xfrm>
          <a:prstGeom prst="ellipse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FaRupeeSig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6012180"/>
            <a:ext cx="320040" cy="3200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17320" y="5852160"/>
            <a:ext cx="7452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2200" b="1">
                <a:solidFill>
                  <a:srgbClr val="E8702A"/>
                </a:solidFill>
                <a:latin typeface="Calibri"/>
              </a:rPr>
              <a:t>Economic Feasibility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37960"/>
            <a:ext cx="8229600" cy="14311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800" b="1" dirty="0">
                <a:solidFill>
                  <a:srgbClr val="17375E"/>
                </a:solidFill>
                <a:latin typeface="Calibri"/>
              </a:rPr>
              <a:t>No proprietary license dependency: </a:t>
            </a:r>
            <a:r>
              <a:rPr lang="en-US" sz="1800" dirty="0">
                <a:latin typeface="Calibri"/>
              </a:rPr>
              <a:t>Uses an open-source software stack.</a:t>
            </a:r>
          </a:p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800" b="1" dirty="0">
                <a:solidFill>
                  <a:srgbClr val="17375E"/>
                </a:solidFill>
                <a:latin typeface="Calibri"/>
              </a:rPr>
              <a:t>Software-only upgrade: </a:t>
            </a:r>
            <a:r>
              <a:rPr lang="en-US" sz="1800" b="0" dirty="0">
                <a:solidFill>
                  <a:srgbClr val="262626"/>
                </a:solidFill>
                <a:latin typeface="Calibri"/>
              </a:rPr>
              <a:t>Uses</a:t>
            </a:r>
            <a:r>
              <a:rPr sz="1800" b="0" dirty="0">
                <a:solidFill>
                  <a:srgbClr val="262626"/>
                </a:solidFill>
                <a:latin typeface="Calibri"/>
              </a:rPr>
              <a:t> on the existing AWS network with no new sensors.</a:t>
            </a:r>
          </a:p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800" b="1" dirty="0">
                <a:solidFill>
                  <a:srgbClr val="17375E"/>
                </a:solidFill>
                <a:latin typeface="Calibri"/>
              </a:rPr>
              <a:t>Fewer </a:t>
            </a:r>
            <a:r>
              <a:rPr lang="en-US" sz="1800" b="1" dirty="0">
                <a:solidFill>
                  <a:srgbClr val="17375E"/>
                </a:solidFill>
                <a:latin typeface="Calibri"/>
              </a:rPr>
              <a:t>unnecessary</a:t>
            </a:r>
            <a:r>
              <a:rPr sz="1800" b="1" dirty="0">
                <a:solidFill>
                  <a:srgbClr val="17375E"/>
                </a:solidFill>
                <a:latin typeface="Calibri"/>
              </a:rPr>
              <a:t> visits: </a:t>
            </a:r>
            <a:r>
              <a:rPr lang="en-US" dirty="0">
                <a:solidFill>
                  <a:srgbClr val="262626"/>
                </a:solidFill>
                <a:latin typeface="Calibri"/>
              </a:rPr>
              <a:t>E</a:t>
            </a:r>
            <a:r>
              <a:rPr sz="1800" b="0" dirty="0">
                <a:solidFill>
                  <a:srgbClr val="262626"/>
                </a:solidFill>
                <a:latin typeface="Calibri"/>
              </a:rPr>
              <a:t>arly fault detection </a:t>
            </a:r>
            <a:r>
              <a:rPr lang="en-US" dirty="0">
                <a:solidFill>
                  <a:srgbClr val="262626"/>
                </a:solidFill>
                <a:latin typeface="Calibri"/>
              </a:rPr>
              <a:t>helps prioritize maintenance.</a:t>
            </a:r>
            <a:endParaRPr sz="1800" b="0" dirty="0">
              <a:solidFill>
                <a:srgbClr val="262626"/>
              </a:solidFill>
              <a:latin typeface="Calibri"/>
            </a:endParaRPr>
          </a:p>
          <a:p>
            <a:pPr marL="201168" indent="-201168">
              <a:spcBef>
                <a:spcPts val="0"/>
              </a:spcBef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lang="en-US" sz="1800" b="1" dirty="0">
                <a:solidFill>
                  <a:srgbClr val="17375E"/>
                </a:solidFill>
                <a:latin typeface="Calibri"/>
              </a:rPr>
              <a:t>Scalable deployment: </a:t>
            </a:r>
            <a:r>
              <a:rPr lang="en-US" sz="1800" dirty="0">
                <a:latin typeface="Calibri"/>
              </a:rPr>
              <a:t>Processing can scale with the number of stations.</a:t>
            </a:r>
            <a:endParaRPr sz="1800" dirty="0">
              <a:latin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281160" y="5669280"/>
            <a:ext cx="8549640" cy="3657600"/>
          </a:xfrm>
          <a:prstGeom prst="roundRect">
            <a:avLst>
              <a:gd name="adj" fmla="val 5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464040" y="5852160"/>
            <a:ext cx="640080" cy="640080"/>
          </a:xfrm>
          <a:prstGeom prst="ellipse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FaShieldA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4060" y="6012180"/>
            <a:ext cx="320040" cy="3200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241280" y="5852160"/>
            <a:ext cx="7452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2200" b="1">
                <a:solidFill>
                  <a:srgbClr val="6B4FA0"/>
                </a:solidFill>
                <a:latin typeface="Calibri"/>
              </a:rPr>
              <a:t>Challenges and Mitigation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6510528"/>
            <a:ext cx="3657600" cy="320040"/>
          </a:xfrm>
          <a:prstGeom prst="rect">
            <a:avLst/>
          </a:prstGeom>
          <a:noFill/>
        </p:spPr>
        <p:txBody>
          <a:bodyPr wrap="square" lIns="4572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200" b="1">
                <a:solidFill>
                  <a:srgbClr val="6B4FA0"/>
                </a:solidFill>
                <a:latin typeface="Calibri"/>
              </a:rPr>
              <a:t>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0" y="6510528"/>
            <a:ext cx="4480560" cy="320040"/>
          </a:xfrm>
          <a:prstGeom prst="rect">
            <a:avLst/>
          </a:prstGeom>
          <a:noFill/>
        </p:spPr>
        <p:txBody>
          <a:bodyPr wrap="square" lIns="4572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200" b="1">
                <a:solidFill>
                  <a:srgbClr val="6B4FA0"/>
                </a:solidFill>
                <a:latin typeface="Calibri"/>
              </a:rPr>
              <a:t>MITIGATION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64040" y="6858000"/>
            <a:ext cx="8229600" cy="530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09760" y="6858000"/>
            <a:ext cx="3749039" cy="530352"/>
          </a:xfrm>
          <a:prstGeom prst="rect">
            <a:avLst/>
          </a:prstGeom>
          <a:noFill/>
        </p:spPr>
        <p:txBody>
          <a:bodyPr wrap="square" lIns="73152" tIns="0" rIns="45720" bIns="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600" b="1">
                <a:solidFill>
                  <a:srgbClr val="17375E"/>
                </a:solidFill>
                <a:latin typeface="Calibri"/>
              </a:rPr>
              <a:t>Few labelled real faults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350240" y="6907732"/>
            <a:ext cx="4343400" cy="430887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0" dirty="0">
                <a:solidFill>
                  <a:srgbClr val="262626"/>
                </a:solidFill>
                <a:latin typeface="Calibri"/>
              </a:rPr>
              <a:t>Fault injection + physics-based simulation, learn normal patterns</a:t>
            </a:r>
            <a:endParaRPr sz="1400" b="0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464040" y="7452360"/>
            <a:ext cx="8229600" cy="530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509760" y="7452360"/>
            <a:ext cx="3749039" cy="530352"/>
          </a:xfrm>
          <a:prstGeom prst="rect">
            <a:avLst/>
          </a:prstGeom>
          <a:noFill/>
        </p:spPr>
        <p:txBody>
          <a:bodyPr wrap="square" lIns="73152" tIns="0" rIns="45720" bIns="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600" b="1">
                <a:solidFill>
                  <a:srgbClr val="17375E"/>
                </a:solidFill>
                <a:latin typeface="Calibri"/>
              </a:rPr>
              <a:t>Real extremes look like faults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350240" y="7452360"/>
            <a:ext cx="4343400" cy="530352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400" b="0">
                <a:solidFill>
                  <a:srgbClr val="262626"/>
                </a:solidFill>
                <a:latin typeface="Calibri"/>
              </a:rPr>
              <a:t>Spatial buddy check and physical plausibility before verdict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64040" y="8046720"/>
            <a:ext cx="8229600" cy="530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509760" y="8046720"/>
            <a:ext cx="3749039" cy="530352"/>
          </a:xfrm>
          <a:prstGeom prst="rect">
            <a:avLst/>
          </a:prstGeom>
          <a:noFill/>
        </p:spPr>
        <p:txBody>
          <a:bodyPr wrap="square" lIns="73152" tIns="0" rIns="45720" bIns="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600" b="1">
                <a:solidFill>
                  <a:srgbClr val="17375E"/>
                </a:solidFill>
                <a:latin typeface="Calibri"/>
              </a:rPr>
              <a:t>Stations with few neighbours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350240" y="8046720"/>
            <a:ext cx="4343400" cy="530352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400" b="0">
                <a:solidFill>
                  <a:srgbClr val="262626"/>
                </a:solidFill>
                <a:latin typeface="Calibri"/>
              </a:rPr>
              <a:t>Fall back to temporal + multivariate layers, lower confidence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64040" y="8641080"/>
            <a:ext cx="8229600" cy="530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509760" y="8641080"/>
            <a:ext cx="3749039" cy="530352"/>
          </a:xfrm>
          <a:prstGeom prst="rect">
            <a:avLst/>
          </a:prstGeom>
          <a:noFill/>
        </p:spPr>
        <p:txBody>
          <a:bodyPr wrap="square" lIns="73152" tIns="0" rIns="45720" bIns="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600" b="1">
                <a:solidFill>
                  <a:srgbClr val="17375E"/>
                </a:solidFill>
                <a:latin typeface="Calibri"/>
              </a:rPr>
              <a:t>Seasonal model drift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350240" y="8690812"/>
            <a:ext cx="4343400" cy="430887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0" dirty="0">
                <a:solidFill>
                  <a:srgbClr val="262626"/>
                </a:solidFill>
                <a:latin typeface="Calibri"/>
              </a:rPr>
              <a:t>Seasonal baselines + periodic recalibration + expert feedback</a:t>
            </a:r>
            <a:endParaRPr sz="1400" b="0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49" name="Freeform 13" descr="Your startup LOGO">
            <a:extLst>
              <a:ext uri="{FF2B5EF4-FFF2-40B4-BE49-F238E27FC236}">
                <a16:creationId xmlns:a16="http://schemas.microsoft.com/office/drawing/2014/main" id="{CD0B5B61-065E-4B48-8C30-7A8FD96A4DDE}"/>
              </a:ext>
            </a:extLst>
          </p:cNvPr>
          <p:cNvSpPr/>
          <p:nvPr/>
        </p:nvSpPr>
        <p:spPr>
          <a:xfrm>
            <a:off x="385349" y="387118"/>
            <a:ext cx="2336308" cy="1060827"/>
          </a:xfrm>
          <a:custGeom>
            <a:avLst/>
            <a:gdLst/>
            <a:ahLst/>
            <a:cxnLst/>
            <a:rect l="l" t="t" r="r" b="b"/>
            <a:pathLst>
              <a:path w="3712718" h="1685801">
                <a:moveTo>
                  <a:pt x="0" y="842900"/>
                </a:moveTo>
                <a:cubicBezTo>
                  <a:pt x="0" y="377318"/>
                  <a:pt x="831088" y="0"/>
                  <a:pt x="1856359" y="0"/>
                </a:cubicBezTo>
                <a:cubicBezTo>
                  <a:pt x="2881630" y="0"/>
                  <a:pt x="3712718" y="377318"/>
                  <a:pt x="3712718" y="842900"/>
                </a:cubicBezTo>
                <a:cubicBezTo>
                  <a:pt x="3712718" y="1308483"/>
                  <a:pt x="2881630" y="1685801"/>
                  <a:pt x="1856359" y="1685801"/>
                </a:cubicBezTo>
                <a:cubicBezTo>
                  <a:pt x="831088" y="1685801"/>
                  <a:pt x="0" y="1308356"/>
                  <a:pt x="0" y="84290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8064A2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Box 14">
            <a:extLst>
              <a:ext uri="{FF2B5EF4-FFF2-40B4-BE49-F238E27FC236}">
                <a16:creationId xmlns:a16="http://schemas.microsoft.com/office/drawing/2014/main" id="{929D07C1-85D6-11D7-78BF-B0A8F94A0C40}"/>
              </a:ext>
            </a:extLst>
          </p:cNvPr>
          <p:cNvSpPr txBox="1"/>
          <p:nvPr/>
        </p:nvSpPr>
        <p:spPr>
          <a:xfrm>
            <a:off x="475612" y="323358"/>
            <a:ext cx="2336332" cy="109678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3479"/>
              </a:lnSpc>
              <a:spcBef>
                <a:spcPct val="0"/>
              </a:spcBef>
            </a:pPr>
            <a:r>
              <a:rPr lang="en-US" sz="2899" u="none" strike="noStrike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PralayDisha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38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457200" y="1828800"/>
            <a:ext cx="8869680" cy="5257800"/>
          </a:xfrm>
          <a:prstGeom prst="roundRect">
            <a:avLst>
              <a:gd name="adj" fmla="val 5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1874519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2400" b="1">
                <a:solidFill>
                  <a:srgbClr val="0070C0"/>
                </a:solidFill>
                <a:latin typeface="Calibri"/>
              </a:rPr>
              <a:t>BENEFITS</a:t>
            </a:r>
          </a:p>
        </p:txBody>
      </p:sp>
      <p:sp>
        <p:nvSpPr>
          <p:cNvPr id="17" name="Oval 16"/>
          <p:cNvSpPr/>
          <p:nvPr/>
        </p:nvSpPr>
        <p:spPr>
          <a:xfrm>
            <a:off x="740663" y="2587752"/>
            <a:ext cx="621792" cy="62179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FaShield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1" y="2743200"/>
            <a:ext cx="310896" cy="31089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63040" y="2649081"/>
            <a:ext cx="7680960" cy="55399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7375E"/>
                </a:solidFill>
                <a:latin typeface="Calibri"/>
              </a:rPr>
              <a:t>Trusted data:</a:t>
            </a:r>
            <a:r>
              <a:rPr lang="en-US" sz="1800" dirty="0">
                <a:latin typeface="Calibri"/>
              </a:rPr>
              <a:t> Faulty readings are flagged before reaching downstream forecasts and advisories.</a:t>
            </a:r>
            <a:endParaRPr sz="1800" dirty="0">
              <a:latin typeface="Calibri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40663" y="3493008"/>
            <a:ext cx="621792" cy="62179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FaBalance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1" y="3648456"/>
            <a:ext cx="310896" cy="310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63040" y="3419856"/>
            <a:ext cx="7680960" cy="822960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17375E"/>
                </a:solidFill>
                <a:latin typeface="Calibri"/>
              </a:rPr>
              <a:t>Fewer false alarms: </a:t>
            </a:r>
            <a:r>
              <a:rPr sz="1800" b="0">
                <a:solidFill>
                  <a:srgbClr val="262626"/>
                </a:solidFill>
                <a:latin typeface="Calibri"/>
              </a:rPr>
              <a:t>Genuine heatwaves and squalls are preserved, not rejected.</a:t>
            </a:r>
          </a:p>
        </p:txBody>
      </p:sp>
      <p:sp>
        <p:nvSpPr>
          <p:cNvPr id="23" name="Oval 22"/>
          <p:cNvSpPr/>
          <p:nvPr/>
        </p:nvSpPr>
        <p:spPr>
          <a:xfrm>
            <a:off x="740663" y="4398264"/>
            <a:ext cx="621792" cy="62179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FaTool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1" y="4553712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63040" y="4459593"/>
            <a:ext cx="7680960" cy="55399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7375E"/>
                </a:solidFill>
                <a:latin typeface="Calibri"/>
              </a:rPr>
              <a:t>Faster maintenance: </a:t>
            </a:r>
            <a:r>
              <a:rPr lang="en-US" sz="1800" dirty="0">
                <a:latin typeface="Calibri"/>
              </a:rPr>
              <a:t>Fault type and sensor-health trends help prioritize station visits.</a:t>
            </a:r>
            <a:endParaRPr sz="1800" dirty="0">
              <a:latin typeface="Calibri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40663" y="5303520"/>
            <a:ext cx="621792" cy="62179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FaLightbu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111" y="5458968"/>
            <a:ext cx="310896" cy="31089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63040" y="5503348"/>
            <a:ext cx="7680960" cy="276999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7375E"/>
                </a:solidFill>
                <a:latin typeface="Calibri"/>
              </a:rPr>
              <a:t>Explainable decisions: </a:t>
            </a:r>
            <a:r>
              <a:rPr lang="en-US" sz="1800" dirty="0">
                <a:latin typeface="Calibri"/>
              </a:rPr>
              <a:t>Confidence and evidence show why a reading was flagged.</a:t>
            </a:r>
            <a:endParaRPr sz="1800" dirty="0">
              <a:latin typeface="Calibri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740663" y="6208776"/>
            <a:ext cx="621792" cy="62179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aClo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111" y="6364224"/>
            <a:ext cx="310896" cy="31089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63040" y="6270105"/>
            <a:ext cx="7680960" cy="553998"/>
          </a:xfrm>
          <a:prstGeom prst="rect">
            <a:avLst/>
          </a:prstGeom>
          <a:noFill/>
        </p:spPr>
        <p:txBody>
          <a:bodyPr wrap="square" lIns="45720" tIns="0" rIns="45720" bIns="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7375E"/>
                </a:solidFill>
                <a:latin typeface="Calibri"/>
              </a:rPr>
              <a:t>Real-time operation: </a:t>
            </a:r>
            <a:r>
              <a:rPr lang="en-US" sz="1800" dirty="0">
                <a:latin typeface="Calibri"/>
              </a:rPr>
              <a:t>Designed for continuous anomaly detection as readings arrive.</a:t>
            </a:r>
            <a:endParaRPr sz="1800" dirty="0"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567548" y="160768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2400" b="1" dirty="0">
                <a:solidFill>
                  <a:srgbClr val="0070C0"/>
                </a:solidFill>
                <a:latin typeface="Calibri"/>
              </a:rPr>
              <a:t>KEY IMPACTS: WHO GAINS</a:t>
            </a:r>
          </a:p>
        </p:txBody>
      </p:sp>
      <p:pic>
        <p:nvPicPr>
          <p:cNvPr id="35" name="Picture 34" descr="FaCloudSunRai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24110" y="2983229"/>
            <a:ext cx="342900" cy="342900"/>
          </a:xfrm>
          <a:prstGeom prst="rect">
            <a:avLst/>
          </a:prstGeom>
        </p:spPr>
      </p:pic>
      <p:pic>
        <p:nvPicPr>
          <p:cNvPr id="40" name="Picture 39" descr="FaPla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30350" y="2983229"/>
            <a:ext cx="342900" cy="342900"/>
          </a:xfrm>
          <a:prstGeom prst="rect">
            <a:avLst/>
          </a:prstGeom>
        </p:spPr>
      </p:pic>
      <p:pic>
        <p:nvPicPr>
          <p:cNvPr id="45" name="Picture 44" descr="FaSeedling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24110" y="5269230"/>
            <a:ext cx="342900" cy="34290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457200" y="7269480"/>
            <a:ext cx="17373600" cy="2057400"/>
          </a:xfrm>
          <a:prstGeom prst="roundRect">
            <a:avLst>
              <a:gd name="adj" fmla="val 5000"/>
            </a:avLst>
          </a:prstGeom>
          <a:solidFill>
            <a:srgbClr val="17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1520" y="7315200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2200" b="1">
                <a:solidFill>
                  <a:srgbClr val="FFFFFF"/>
                </a:solidFill>
                <a:latin typeface="Calibri"/>
              </a:rPr>
              <a:t>IMPACT AND SCALABILITY</a:t>
            </a:r>
          </a:p>
        </p:txBody>
      </p:sp>
      <p:sp>
        <p:nvSpPr>
          <p:cNvPr id="55" name="Pentagon 54"/>
          <p:cNvSpPr/>
          <p:nvPr/>
        </p:nvSpPr>
        <p:spPr>
          <a:xfrm>
            <a:off x="731520" y="7955279"/>
            <a:ext cx="4114800" cy="1143000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0" rIns="45720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 b="1" dirty="0">
                <a:solidFill>
                  <a:srgbClr val="FFFFFF"/>
                </a:solidFill>
                <a:latin typeface="Calibri"/>
              </a:rPr>
              <a:t>Pilot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600" b="0" dirty="0">
                <a:solidFill>
                  <a:srgbClr val="FFFFFF"/>
                </a:solidFill>
                <a:latin typeface="Calibri"/>
              </a:rPr>
              <a:t>Single </a:t>
            </a:r>
            <a:r>
              <a:rPr lang="en-US" sz="1600" b="0" dirty="0">
                <a:solidFill>
                  <a:srgbClr val="FFFFFF"/>
                </a:solidFill>
                <a:latin typeface="Calibri"/>
              </a:rPr>
              <a:t>AWS 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station</a:t>
            </a:r>
          </a:p>
        </p:txBody>
      </p:sp>
      <p:sp>
        <p:nvSpPr>
          <p:cNvPr id="56" name="Pentagon 55"/>
          <p:cNvSpPr/>
          <p:nvPr/>
        </p:nvSpPr>
        <p:spPr>
          <a:xfrm>
            <a:off x="4983480" y="7955279"/>
            <a:ext cx="4114800" cy="1143000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0" rIns="45720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FFFF"/>
                </a:solidFill>
                <a:latin typeface="Calibri"/>
              </a:rPr>
              <a:t>Regional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600" b="0">
                <a:solidFill>
                  <a:srgbClr val="FFFFFF"/>
                </a:solidFill>
                <a:latin typeface="Calibri"/>
              </a:rPr>
              <a:t>State AWS cluster</a:t>
            </a:r>
          </a:p>
        </p:txBody>
      </p:sp>
      <p:sp>
        <p:nvSpPr>
          <p:cNvPr id="57" name="Pentagon 56"/>
          <p:cNvSpPr/>
          <p:nvPr/>
        </p:nvSpPr>
        <p:spPr>
          <a:xfrm>
            <a:off x="9235440" y="7955279"/>
            <a:ext cx="4114800" cy="1143000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0" rIns="45720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FFFF"/>
                </a:solidFill>
                <a:latin typeface="Calibri"/>
              </a:rPr>
              <a:t>National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600" b="0">
                <a:solidFill>
                  <a:srgbClr val="FFFFFF"/>
                </a:solidFill>
                <a:latin typeface="Calibri"/>
              </a:rPr>
              <a:t>Full IMD AWS network</a:t>
            </a:r>
          </a:p>
        </p:txBody>
      </p:sp>
      <p:sp>
        <p:nvSpPr>
          <p:cNvPr id="58" name="Pentagon 57"/>
          <p:cNvSpPr/>
          <p:nvPr/>
        </p:nvSpPr>
        <p:spPr>
          <a:xfrm>
            <a:off x="13487400" y="7955279"/>
            <a:ext cx="4114800" cy="1143000"/>
          </a:xfrm>
          <a:prstGeom prst="homePlate">
            <a:avLst/>
          </a:prstGeom>
          <a:solidFill>
            <a:srgbClr val="E87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0" rIns="457200" bIns="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 b="1" dirty="0">
                <a:solidFill>
                  <a:srgbClr val="FFFFFF"/>
                </a:solidFill>
                <a:latin typeface="Calibri"/>
              </a:rPr>
              <a:t>Beyond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600" b="0" dirty="0">
                <a:solidFill>
                  <a:srgbClr val="FFFFFF"/>
                </a:solidFill>
                <a:latin typeface="Calibri"/>
              </a:rPr>
              <a:t>Rainfall, wind, other </a:t>
            </a:r>
            <a:r>
              <a:rPr lang="en-US" sz="1600" b="0" dirty="0">
                <a:solidFill>
                  <a:srgbClr val="FFFFFF"/>
                </a:solidFill>
                <a:latin typeface="Calibri"/>
              </a:rPr>
              <a:t>sensor 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networks</a:t>
            </a:r>
          </a:p>
        </p:txBody>
      </p:sp>
      <p:sp>
        <p:nvSpPr>
          <p:cNvPr id="60" name="Freeform 13" descr="Your startup LOGO">
            <a:extLst>
              <a:ext uri="{FF2B5EF4-FFF2-40B4-BE49-F238E27FC236}">
                <a16:creationId xmlns:a16="http://schemas.microsoft.com/office/drawing/2014/main" id="{4B8A028D-8A7A-1DC6-2770-3860E585EC02}"/>
              </a:ext>
            </a:extLst>
          </p:cNvPr>
          <p:cNvSpPr/>
          <p:nvPr/>
        </p:nvSpPr>
        <p:spPr>
          <a:xfrm>
            <a:off x="385349" y="387118"/>
            <a:ext cx="2336308" cy="1060827"/>
          </a:xfrm>
          <a:custGeom>
            <a:avLst/>
            <a:gdLst/>
            <a:ahLst/>
            <a:cxnLst/>
            <a:rect l="l" t="t" r="r" b="b"/>
            <a:pathLst>
              <a:path w="3712718" h="1685801">
                <a:moveTo>
                  <a:pt x="0" y="842900"/>
                </a:moveTo>
                <a:cubicBezTo>
                  <a:pt x="0" y="377318"/>
                  <a:pt x="831088" y="0"/>
                  <a:pt x="1856359" y="0"/>
                </a:cubicBezTo>
                <a:cubicBezTo>
                  <a:pt x="2881630" y="0"/>
                  <a:pt x="3712718" y="377318"/>
                  <a:pt x="3712718" y="842900"/>
                </a:cubicBezTo>
                <a:cubicBezTo>
                  <a:pt x="3712718" y="1308483"/>
                  <a:pt x="2881630" y="1685801"/>
                  <a:pt x="1856359" y="1685801"/>
                </a:cubicBezTo>
                <a:cubicBezTo>
                  <a:pt x="831088" y="1685801"/>
                  <a:pt x="0" y="1308356"/>
                  <a:pt x="0" y="84290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8064A2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Box 14">
            <a:extLst>
              <a:ext uri="{FF2B5EF4-FFF2-40B4-BE49-F238E27FC236}">
                <a16:creationId xmlns:a16="http://schemas.microsoft.com/office/drawing/2014/main" id="{0A695BD0-17EA-69D3-07D2-CDBE7F689B17}"/>
              </a:ext>
            </a:extLst>
          </p:cNvPr>
          <p:cNvSpPr txBox="1"/>
          <p:nvPr/>
        </p:nvSpPr>
        <p:spPr>
          <a:xfrm>
            <a:off x="475612" y="323358"/>
            <a:ext cx="2336332" cy="109678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3479"/>
              </a:lnSpc>
              <a:spcBef>
                <a:spcPct val="0"/>
              </a:spcBef>
            </a:pPr>
            <a:r>
              <a:rPr lang="en-US" sz="2899" u="none" strike="noStrike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PralayDisha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9B6BB968-275A-E3B9-007E-CEA4BC6BB38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10343" y="2059438"/>
            <a:ext cx="8220457" cy="50047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38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5" name="Rounded Rectangle 14"/>
          <p:cNvSpPr/>
          <p:nvPr/>
        </p:nvSpPr>
        <p:spPr>
          <a:xfrm>
            <a:off x="457200" y="1828800"/>
            <a:ext cx="8549640" cy="3703320"/>
          </a:xfrm>
          <a:prstGeom prst="roundRect">
            <a:avLst>
              <a:gd name="adj" fmla="val 5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1874519"/>
            <a:ext cx="81838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0070C0"/>
                </a:solidFill>
                <a:latin typeface="Calibri"/>
              </a:rPr>
              <a:t>SUPPORTING RESEARCH PAPERS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514600"/>
            <a:ext cx="8183879" cy="28418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01168" indent="-201168"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b="1" dirty="0">
                <a:solidFill>
                  <a:srgbClr val="17375E"/>
                </a:solidFill>
              </a:rPr>
              <a:t>Liu, Ting &amp; Zhou (2008): </a:t>
            </a:r>
            <a:r>
              <a:rPr b="0" dirty="0"/>
              <a:t>Isolation Forest. IEEE ICDM</a:t>
            </a:r>
            <a:r>
              <a:rPr lang="en-US" b="0" dirty="0"/>
              <a:t>   </a:t>
            </a:r>
            <a:r>
              <a:rPr lang="en-US" b="0" dirty="0">
                <a:solidFill>
                  <a:srgbClr val="262626"/>
                </a:solidFill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b="1" dirty="0">
              <a:solidFill>
                <a:srgbClr val="FF0000"/>
              </a:solidFill>
            </a:endParaRPr>
          </a:p>
          <a:p>
            <a:pPr marL="201168" indent="-201168"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b="1" dirty="0">
                <a:solidFill>
                  <a:srgbClr val="17375E"/>
                </a:solidFill>
              </a:rPr>
              <a:t>Malhotra et al. (2016): </a:t>
            </a:r>
            <a:r>
              <a:rPr b="0" dirty="0"/>
              <a:t>LSTM Encoder-Decoder for Multi-Sensor Anomaly Detection. ICML Workshop</a:t>
            </a:r>
            <a:r>
              <a:rPr lang="en-US" b="0" dirty="0"/>
              <a:t>   </a:t>
            </a:r>
            <a:r>
              <a:rPr lang="en-US" b="0" dirty="0">
                <a:solidFill>
                  <a:srgbClr val="262626"/>
                </a:solidFill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b="1" dirty="0">
              <a:solidFill>
                <a:srgbClr val="FF0000"/>
              </a:solidFill>
            </a:endParaRPr>
          </a:p>
          <a:p>
            <a:pPr marL="201168" indent="-201168"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b="1" dirty="0">
                <a:solidFill>
                  <a:srgbClr val="17375E"/>
                </a:solidFill>
              </a:rPr>
              <a:t>Lundberg &amp; Lee (2017):</a:t>
            </a:r>
            <a:r>
              <a:rPr b="1" dirty="0"/>
              <a:t> </a:t>
            </a:r>
            <a:r>
              <a:rPr b="0" dirty="0"/>
              <a:t>A Unified Approach to Interpreting Model Predictions (SHAP). NeurIPS</a:t>
            </a:r>
            <a:r>
              <a:rPr lang="en-US" b="0" dirty="0"/>
              <a:t>  </a:t>
            </a:r>
            <a:r>
              <a:rPr lang="en-US" b="0" dirty="0">
                <a:solidFill>
                  <a:srgbClr val="262626"/>
                </a:solidFill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201168" indent="-201168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b="1" dirty="0">
                <a:solidFill>
                  <a:srgbClr val="17375E"/>
                </a:solidFill>
              </a:rPr>
              <a:t>Chandola, Banerjee &amp; Kumar (2009): </a:t>
            </a:r>
            <a:r>
              <a:rPr b="0" dirty="0"/>
              <a:t>Anomaly Detection: A Survey. ACM Computing Surveys</a:t>
            </a:r>
            <a:r>
              <a:rPr lang="en-US" b="0" dirty="0">
                <a:solidFill>
                  <a:srgbClr val="262626"/>
                </a:solidFill>
              </a:rPr>
              <a:t>  </a:t>
            </a:r>
            <a:r>
              <a:rPr lang="en-US" dirty="0">
                <a:solidFill>
                  <a:srgbClr val="262626"/>
                </a:solidFill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b="0" dirty="0">
              <a:solidFill>
                <a:srgbClr val="FF0000"/>
              </a:solidFill>
            </a:endParaRPr>
          </a:p>
          <a:p>
            <a:pPr marL="201168" indent="-201168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b="1" dirty="0">
                <a:solidFill>
                  <a:srgbClr val="17375E"/>
                </a:solidFill>
              </a:rPr>
              <a:t>Estévez et al. (2011): </a:t>
            </a:r>
            <a:r>
              <a:rPr b="0" dirty="0"/>
              <a:t>Validation procedures for AWS meteorological data. J. Hydrology</a:t>
            </a:r>
            <a:r>
              <a:rPr lang="en-US" b="0" dirty="0"/>
              <a:t>  </a:t>
            </a:r>
            <a:r>
              <a:rPr lang="en-US" dirty="0">
                <a:solidFill>
                  <a:srgbClr val="262626"/>
                </a:solidFill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281160" y="1828800"/>
            <a:ext cx="8549640" cy="3703320"/>
          </a:xfrm>
          <a:prstGeom prst="roundRect">
            <a:avLst>
              <a:gd name="adj" fmla="val 5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64040" y="1874519"/>
            <a:ext cx="81838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0070C0"/>
                </a:solidFill>
                <a:latin typeface="Calibri"/>
              </a:rPr>
              <a:t>DATA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514600"/>
            <a:ext cx="8183879" cy="25006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01168" indent="-201168"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b="1" dirty="0">
                <a:solidFill>
                  <a:srgbClr val="17375E"/>
                </a:solidFill>
              </a:rPr>
              <a:t>India Meteorological Department: </a:t>
            </a:r>
            <a:r>
              <a:rPr b="0" dirty="0"/>
              <a:t>AWS observation network and data portal (mausam.imd.gov.in)</a:t>
            </a:r>
            <a:r>
              <a:rPr lang="en-US" b="0" dirty="0">
                <a:solidFill>
                  <a:srgbClr val="262626"/>
                </a:solidFill>
              </a:rPr>
              <a:t>  </a:t>
            </a:r>
            <a:r>
              <a:rPr lang="en-US" b="0" dirty="0">
                <a:solidFill>
                  <a:srgbClr val="262626"/>
                </a:solidFill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b="1" dirty="0">
              <a:solidFill>
                <a:srgbClr val="FF0000"/>
              </a:solidFill>
            </a:endParaRPr>
          </a:p>
          <a:p>
            <a:pPr marL="201168" indent="-201168"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b="1" dirty="0">
                <a:solidFill>
                  <a:srgbClr val="17375E"/>
                </a:solidFill>
              </a:rPr>
              <a:t>ERA5 reanalysis, Copernicus CDS: </a:t>
            </a:r>
            <a:r>
              <a:rPr b="0" dirty="0"/>
              <a:t>climatological baselines (</a:t>
            </a:r>
            <a:r>
              <a:rPr b="0" dirty="0" err="1"/>
              <a:t>Hersbach</a:t>
            </a:r>
            <a:r>
              <a:rPr b="0" dirty="0"/>
              <a:t> et al., 2020)</a:t>
            </a:r>
            <a:r>
              <a:rPr lang="en-US" b="0" dirty="0"/>
              <a:t>  </a:t>
            </a:r>
            <a:r>
              <a:rPr lang="en-US" b="0" dirty="0">
                <a:solidFill>
                  <a:srgbClr val="262626"/>
                </a:solidFill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b="0" dirty="0">
              <a:solidFill>
                <a:srgbClr val="FF0000"/>
              </a:solidFill>
            </a:endParaRPr>
          </a:p>
          <a:p>
            <a:pPr marL="201168" indent="-201168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b="1" dirty="0">
                <a:solidFill>
                  <a:srgbClr val="17375E"/>
                </a:solidFill>
              </a:rPr>
              <a:t>In-house physics-based AWS simulator: </a:t>
            </a:r>
            <a:r>
              <a:rPr b="0" dirty="0"/>
              <a:t>labelled fault injection (spike, stuck, drift, noise, dropout) and real-extreme scenarios</a:t>
            </a:r>
            <a:r>
              <a:rPr lang="en-US" b="0" dirty="0"/>
              <a:t>  </a:t>
            </a:r>
          </a:p>
          <a:p>
            <a:pPr marL="201168" indent="-201168"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b="1" dirty="0">
                <a:solidFill>
                  <a:srgbClr val="17375E"/>
                </a:solidFill>
              </a:rPr>
              <a:t>Live AWS feed: </a:t>
            </a:r>
            <a:r>
              <a:rPr b="0" dirty="0"/>
              <a:t>pipeline accepts streaming T, P, RH observations from IMD when </a:t>
            </a:r>
            <a:r>
              <a:rPr b="0" dirty="0" err="1"/>
              <a:t>authori</a:t>
            </a:r>
            <a:r>
              <a:rPr lang="en-IN" b="0" dirty="0"/>
              <a:t>z</a:t>
            </a:r>
            <a:r>
              <a:rPr b="0" dirty="0"/>
              <a:t>ed</a:t>
            </a:r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457200" y="5669280"/>
            <a:ext cx="8549640" cy="3703320"/>
          </a:xfrm>
          <a:prstGeom prst="roundRect">
            <a:avLst>
              <a:gd name="adj" fmla="val 5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715000"/>
            <a:ext cx="81838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0070C0"/>
                </a:solidFill>
                <a:latin typeface="Calibri"/>
              </a:rPr>
              <a:t>TECHNICAL DOCUMENTATION AND STANDARDS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55080"/>
            <a:ext cx="8183879" cy="175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01168" indent="-201168"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sz="2000" b="1" dirty="0">
                <a:solidFill>
                  <a:srgbClr val="17375E"/>
                </a:solidFill>
              </a:rPr>
              <a:t>WMO-No. 8: </a:t>
            </a:r>
            <a:r>
              <a:rPr sz="2000" b="0" dirty="0"/>
              <a:t>Guide to Instruments and Methods of Observation (measurement and QC practice)</a:t>
            </a:r>
            <a:r>
              <a:rPr lang="en-US" sz="2000" b="0" dirty="0"/>
              <a:t> </a:t>
            </a:r>
            <a:r>
              <a:rPr lang="en-US" sz="2000" dirty="0">
                <a:solidFill>
                  <a:srgbClr val="262626"/>
                </a:solidFill>
                <a:sym typeface="Wingdings" panose="05000000000000000000" pitchFamily="2" charset="2"/>
              </a:rPr>
              <a:t> 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sz="2000" b="0" dirty="0">
              <a:solidFill>
                <a:srgbClr val="FF0000"/>
              </a:solidFill>
            </a:endParaRPr>
          </a:p>
          <a:p>
            <a:pPr marL="201168" indent="-201168"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sz="2000" b="1" dirty="0">
                <a:solidFill>
                  <a:srgbClr val="17375E"/>
                </a:solidFill>
              </a:rPr>
              <a:t>Lawrence (2005), BAMS: </a:t>
            </a:r>
            <a:r>
              <a:rPr sz="2000" b="0" dirty="0"/>
              <a:t>relative humidity to dew-point relation (Magnus form) for physical consistency checks</a:t>
            </a:r>
          </a:p>
          <a:p>
            <a:pPr marL="201168" indent="-201168"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sz="2000" b="1" dirty="0">
                <a:solidFill>
                  <a:srgbClr val="17375E"/>
                </a:solidFill>
              </a:rPr>
              <a:t>Library docs: </a:t>
            </a:r>
            <a:r>
              <a:rPr sz="2000" b="0" dirty="0"/>
              <a:t>scikit-learn, </a:t>
            </a:r>
            <a:r>
              <a:rPr sz="2000" b="0" dirty="0" err="1"/>
              <a:t>PyTorch</a:t>
            </a:r>
            <a:r>
              <a:rPr sz="2000" b="0" dirty="0"/>
              <a:t>, XGBoost, SHAP, </a:t>
            </a:r>
            <a:r>
              <a:rPr sz="2000" b="0" dirty="0" err="1"/>
              <a:t>FastAPI</a:t>
            </a:r>
            <a:endParaRPr sz="2000" b="0" dirty="0"/>
          </a:p>
        </p:txBody>
      </p:sp>
      <p:sp>
        <p:nvSpPr>
          <p:cNvPr id="24" name="Rounded Rectangle 23"/>
          <p:cNvSpPr/>
          <p:nvPr/>
        </p:nvSpPr>
        <p:spPr>
          <a:xfrm>
            <a:off x="9281160" y="5669280"/>
            <a:ext cx="8549640" cy="3703320"/>
          </a:xfrm>
          <a:prstGeom prst="roundRect">
            <a:avLst>
              <a:gd name="adj" fmla="val 5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64040" y="5715000"/>
            <a:ext cx="81838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0070C0"/>
                </a:solidFill>
                <a:latin typeface="Calibri"/>
              </a:rPr>
              <a:t>RESEARCH AND TECHNOLOGY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6355080"/>
            <a:ext cx="8183879" cy="139268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01168" indent="-201168"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b="1" dirty="0">
                <a:solidFill>
                  <a:srgbClr val="17375E"/>
                </a:solidFill>
              </a:rPr>
              <a:t>Physics-informed QC: </a:t>
            </a:r>
            <a:r>
              <a:rPr b="0" dirty="0"/>
              <a:t>physical limits remove impossible values</a:t>
            </a:r>
          </a:p>
          <a:p>
            <a:pPr marL="201168" indent="-201168"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b="1" dirty="0">
                <a:solidFill>
                  <a:srgbClr val="17375E"/>
                </a:solidFill>
              </a:rPr>
              <a:t>Spatial buddy check: </a:t>
            </a:r>
            <a:r>
              <a:rPr b="0" dirty="0"/>
              <a:t>separates a local fault from regional weather</a:t>
            </a:r>
          </a:p>
          <a:p>
            <a:pPr marL="201168" indent="-201168"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b="1" dirty="0">
                <a:solidFill>
                  <a:srgbClr val="17375E"/>
                </a:solidFill>
              </a:rPr>
              <a:t>Unsupervised + ensemble ML: </a:t>
            </a:r>
            <a:r>
              <a:rPr lang="en-US" b="0" dirty="0"/>
              <a:t>supports detection of previously unseen anomalies</a:t>
            </a:r>
            <a:endParaRPr b="0" dirty="0"/>
          </a:p>
          <a:p>
            <a:pPr marL="201168" indent="-201168">
              <a:spcBef>
                <a:spcPts val="0"/>
              </a:spcBef>
              <a:spcAft>
                <a:spcPts val="500"/>
              </a:spcAft>
              <a:buClr>
                <a:srgbClr val="0070C0"/>
              </a:buClr>
              <a:buFont typeface="Arial"/>
              <a:buChar char="•"/>
            </a:pPr>
            <a:r>
              <a:rPr b="1" dirty="0">
                <a:solidFill>
                  <a:srgbClr val="17375E"/>
                </a:solidFill>
              </a:rPr>
              <a:t>Explainable AI</a:t>
            </a:r>
            <a:r>
              <a:rPr lang="en-US" b="1" dirty="0">
                <a:solidFill>
                  <a:srgbClr val="17375E"/>
                </a:solidFill>
              </a:rPr>
              <a:t>: </a:t>
            </a:r>
            <a:r>
              <a:rPr lang="en-US" b="0" dirty="0"/>
              <a:t>shows why a reading was flagged</a:t>
            </a:r>
            <a:endParaRPr b="0" dirty="0"/>
          </a:p>
        </p:txBody>
      </p:sp>
      <p:sp>
        <p:nvSpPr>
          <p:cNvPr id="28" name="Freeform 13" descr="Your startup LOGO">
            <a:extLst>
              <a:ext uri="{FF2B5EF4-FFF2-40B4-BE49-F238E27FC236}">
                <a16:creationId xmlns:a16="http://schemas.microsoft.com/office/drawing/2014/main" id="{122DA515-FF32-DD10-333A-E394317592BA}"/>
              </a:ext>
            </a:extLst>
          </p:cNvPr>
          <p:cNvSpPr/>
          <p:nvPr/>
        </p:nvSpPr>
        <p:spPr>
          <a:xfrm>
            <a:off x="385349" y="387118"/>
            <a:ext cx="2336308" cy="1060827"/>
          </a:xfrm>
          <a:custGeom>
            <a:avLst/>
            <a:gdLst/>
            <a:ahLst/>
            <a:cxnLst/>
            <a:rect l="l" t="t" r="r" b="b"/>
            <a:pathLst>
              <a:path w="3712718" h="1685801">
                <a:moveTo>
                  <a:pt x="0" y="842900"/>
                </a:moveTo>
                <a:cubicBezTo>
                  <a:pt x="0" y="377318"/>
                  <a:pt x="831088" y="0"/>
                  <a:pt x="1856359" y="0"/>
                </a:cubicBezTo>
                <a:cubicBezTo>
                  <a:pt x="2881630" y="0"/>
                  <a:pt x="3712718" y="377318"/>
                  <a:pt x="3712718" y="842900"/>
                </a:cubicBezTo>
                <a:cubicBezTo>
                  <a:pt x="3712718" y="1308483"/>
                  <a:pt x="2881630" y="1685801"/>
                  <a:pt x="1856359" y="1685801"/>
                </a:cubicBezTo>
                <a:cubicBezTo>
                  <a:pt x="831088" y="1685801"/>
                  <a:pt x="0" y="1308356"/>
                  <a:pt x="0" y="84290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8064A2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Box 14">
            <a:extLst>
              <a:ext uri="{FF2B5EF4-FFF2-40B4-BE49-F238E27FC236}">
                <a16:creationId xmlns:a16="http://schemas.microsoft.com/office/drawing/2014/main" id="{57D54051-E906-AAEE-CA12-3A9A23AFEEEA}"/>
              </a:ext>
            </a:extLst>
          </p:cNvPr>
          <p:cNvSpPr txBox="1"/>
          <p:nvPr/>
        </p:nvSpPr>
        <p:spPr>
          <a:xfrm>
            <a:off x="475612" y="323358"/>
            <a:ext cx="2336332" cy="109678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3479"/>
              </a:lnSpc>
              <a:spcBef>
                <a:spcPct val="0"/>
              </a:spcBef>
            </a:pPr>
            <a:r>
              <a:rPr lang="en-US" sz="2899" u="none" strike="noStrike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PralayDisha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1051</Words>
  <Application>Microsoft Office PowerPoint</Application>
  <PresentationFormat>Custom</PresentationFormat>
  <Paragraphs>157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 Bold</vt:lpstr>
      <vt:lpstr>Arimo Bold</vt:lpstr>
      <vt:lpstr>Times New Roman Bold</vt:lpstr>
      <vt:lpstr>Canva Sans 2 Bold</vt:lpstr>
      <vt:lpstr>Wingdings</vt:lpstr>
      <vt:lpstr>Garamond Bold</vt:lpstr>
      <vt:lpstr>Calibri</vt:lpstr>
      <vt:lpstr>Arial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PralayDisha_sih.pptx</dc:title>
  <cp:lastModifiedBy>CHENNUPATI DIDDI NAGA SAI</cp:lastModifiedBy>
  <cp:revision>4</cp:revision>
  <dcterms:created xsi:type="dcterms:W3CDTF">2006-08-16T00:00:00Z</dcterms:created>
  <dcterms:modified xsi:type="dcterms:W3CDTF">2026-09-30T14:27:33Z</dcterms:modified>
  <dc:identifier>DAHWQvStCqc</dc:identifier>
</cp:coreProperties>
</file>